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Pregunta inicial para el grupo: ¿cuántos han perdido el carné alguna vez? Hoy vamos a ver cómo se construye desde cero un sistema que usa el cuerpo como identificación, con el mismo tipo de tecnología de los bancos, pero hecho con un chip pequeño y económico.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Plantear los tres dolores clásicos. Cerrar con la idea: la biometría convierte algo que ERES en tu identificación. Preguntar: ¿qué otras cosas del cuerpo servirían? (cara, iris, voz...)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la escala: el 'servidor' completo cabe en la palma de la mano y cuesta menos que una salida al cine. Los mismos principios de un datacenter, en miniatura.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clave: digitalización. Todo lo que un computador 've' son números. Conectar con la clase de informática: una imagen en escala de grises es una matriz. Los números de la fila resaltada son valores reales de brillo.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las 6 paradas. Punto interesante: el paso 2 (la imagen viaja cifrada) sorprende — el fabricante cifra la imagen DENTRO del cable USB para que nadie la espíe. En las siguientes diapositivas profundizamos los pasos 3, 4 y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gancho de criptografía. XOR es la operación más simple del cifrado y la base de sistemas reales. Demostración mental: 5 XOR 3 = 6, y 6 XOR 3 = 5 otra vez. El descifrado nos tomó días: si se pierde UN byte, todo lo que sigue queda revuelto.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extractor se llama MINDTCT y lo hizo el NIST (la agencia de estándares de EE.UU.) para el FBI — usamos su código abierto adaptado a nuestro chip. Punto de privacidad importante: guardamos coordenadas, no imágenes.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corazón matemático: rotaciones con seno/coseno y distancia euclidiana (Pitágoras). El algoritmo prueba cada pareja de anclas — son miles de intentos — y el chip lo hace en 30 milisegundos. Escribimos este comparador desde cero cuando el del NIST falló en nuestro procesador de 32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barras son medidas reales de nuestro sistema. Este dilema (falso positivo vs falso negativo) existe en TODA la biometría: el FaceID del iPhone, los bancos... Es una decisión de ingeniería, no hay respuesta perfecta. Preguntar: ¿qué preferirían para un banco? ¿y para el comedor?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tablero/cuaderno. El dato del congelamiento es real y nos costó encontrarlo: cada almuerzo registrado congelaba el sistema 2 segundos hasta que cambiamos la estrategia de guardado. Lección de estructuras de datos aplicada.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la diferencia entre WiFi e internet: la placa genera una red local propia (como un router en miniatura). El celular no navega a Google — habla directamente con el chip. Anécdota: el 'peaje' de 250 ms por un detalle del protocolo TCP que arreglamos con 1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flujo real: primer dedo de Juan → verde; segundo intento → ámbar con la advertencia. Es una captura fiel de cómo se ve el kiosco. La regla anti-duplicado es la que le ahorra plata al comedor.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parte favorita del público. Cada bug es 100% real y tiene una lección: (1) los sistemas fallan en los bordes — qué pasa cuando NO pasa nada en 60s; (2) el rendimiento se mide, no se supone; (3) un sistema que funciona pero no comunica, para el usuario NO funciona. Depurar es ser detective: evidencia, hipótesis, experimento.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números salen de mediciones reales por el puerto serial. Buen momento para explicar qué es un milisegundo: en el tiempo de un parpadeo (300 ms) el chip compara tu huella contra 10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final motivacional: nada de esto requirió laboratorios millonarios. Un chip económico, software libre y las matemáticas del colegio. La barrera de entrada a crear tecnología nunca ha sido tan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Si hay demo en vivo: invitar a 2-3 estudiantes a enrolarse y pasar por el 'almuerzo'. El efecto del duplicado en amarillo siempre saca risas.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452360" y="640080"/>
            <a:ext cx="4297680" cy="5577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17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BIOMÉTRICO REAL · CHARLA PARA GRADO 11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78308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640080" y="28803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comedor que te reconoce por tu huella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construimos —con un chip de $25 y mucho código— una máquina que </a:t>
            </a:r>
            <a:pPr indent="0" marL="0">
              <a:buNone/>
            </a:pPr>
            <a:r>
              <a:rPr lang="en-US" sz="15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 tu dedo, sabe quién eres y te entrega tu almuerzo</a:t>
            </a:r>
            <a:pPr indent="0" marL="0">
              <a:buNone/>
            </a:pPr>
            <a:r>
              <a:rPr lang="en-US" sz="15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Sin carné, sin listas, sin trampa.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89204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vas a ver:  </a:t>
            </a:r>
            <a:pPr indent="0" marL="0">
              <a:buNone/>
            </a:pPr>
            <a:r>
              <a:rPr lang="en-US" sz="15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píxeles → matemáticas → geometría → almuerzo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¿POR QUÉ EXISTE ESTO?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de todos los comedores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980956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19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Carnés que se pierden o se prestan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21305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 me quedó en la casa, profe»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227832"/>
            <a:ext cx="566928" cy="566928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64" y="3352556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3090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lentas y listas en papel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54480" y="35021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un nombre entre 500 demora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297680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4599432"/>
            <a:ext cx="566928" cy="566928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4724156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4622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Dobles raciones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54480" y="4873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controla si alguien repite?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537960" y="155448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965960"/>
            <a:ext cx="868680" cy="8686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2971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812280" y="34290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dedo ES tu carné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6812280" y="402336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pierde, no se presta,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falsificar fácil,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siempre lo llevas puesto.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EL 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piezas del sistema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920240"/>
            <a:ext cx="777240" cy="77724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953" y="2091233"/>
            <a:ext cx="435254" cy="4352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8803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cerebro: ESP32-P4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computador más pequeño que una galleta: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procesadores a 360 MHz, 32 MB de RAM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16 MB de memoria permanente.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719072" y="4956048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1E2B3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4956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$25 USD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89120" y="160020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06440" y="1920240"/>
            <a:ext cx="777240" cy="77724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433" y="2091233"/>
            <a:ext cx="435254" cy="43525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7720" y="28803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ojo: lector U.are.U 4500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17720" y="35661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tipo de lector que usan bancos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notarías. Toma una foto de 512 puntos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pulgada de tu dedo.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559552" y="4956048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1E2B3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59552" y="4956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229600" y="160020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646920" y="1920240"/>
            <a:ext cx="777240" cy="77724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913" y="2091233"/>
            <a:ext cx="435254" cy="43525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8200" y="28803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pantalla: tu celular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458200" y="35661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placa crea su propia red WiFi y sirve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página web. Cualquier celular 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y ve todo en vivo.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9400032" y="4956048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1E2B38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400032" y="4956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apps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internet, sin computador, sin nube: todo el sistema vive dentro del chip.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DE DEDO A NÚMEROS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ve el computador tu huella?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65760" cy="36576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737360"/>
            <a:ext cx="365760" cy="365760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8" name="Shape 6"/>
          <p:cNvSpPr/>
          <p:nvPr/>
        </p:nvSpPr>
        <p:spPr>
          <a:xfrm>
            <a:off x="1453896" y="1737360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" name="Shape 7"/>
          <p:cNvSpPr/>
          <p:nvPr/>
        </p:nvSpPr>
        <p:spPr>
          <a:xfrm>
            <a:off x="1837944" y="1737360"/>
            <a:ext cx="365760" cy="36576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8"/>
          <p:cNvSpPr/>
          <p:nvPr/>
        </p:nvSpPr>
        <p:spPr>
          <a:xfrm>
            <a:off x="2221992" y="1737360"/>
            <a:ext cx="365760" cy="365760"/>
          </a:xfrm>
          <a:prstGeom prst="rect">
            <a:avLst/>
          </a:prstGeom>
          <a:solidFill>
            <a:srgbClr val="9F9F9F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737360"/>
            <a:ext cx="365760" cy="365760"/>
          </a:xfrm>
          <a:prstGeom prst="rect">
            <a:avLst/>
          </a:prstGeom>
          <a:solidFill>
            <a:srgbClr val="4B4B4B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0088" y="1737360"/>
            <a:ext cx="36576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Shape 11"/>
          <p:cNvSpPr/>
          <p:nvPr/>
        </p:nvSpPr>
        <p:spPr>
          <a:xfrm>
            <a:off x="3374136" y="1737360"/>
            <a:ext cx="365760" cy="36576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4" name="Shape 12"/>
          <p:cNvSpPr/>
          <p:nvPr/>
        </p:nvSpPr>
        <p:spPr>
          <a:xfrm>
            <a:off x="3758184" y="1737360"/>
            <a:ext cx="365760" cy="36576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4142232" y="1737360"/>
            <a:ext cx="365760" cy="365760"/>
          </a:xfrm>
          <a:prstGeom prst="rect">
            <a:avLst/>
          </a:prstGeom>
          <a:solidFill>
            <a:srgbClr val="979797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121408"/>
            <a:ext cx="365760" cy="365760"/>
          </a:xfrm>
          <a:prstGeom prst="rect">
            <a:avLst/>
          </a:prstGeom>
          <a:solidFill>
            <a:srgbClr val="BABAB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" y="2121408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453896" y="2121408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837944" y="2121408"/>
            <a:ext cx="365760" cy="365760"/>
          </a:xfrm>
          <a:prstGeom prst="rect">
            <a:avLst/>
          </a:prstGeom>
          <a:solidFill>
            <a:srgbClr val="B7B7B7"/>
          </a:solidFill>
          <a:ln/>
        </p:spPr>
      </p:sp>
      <p:sp>
        <p:nvSpPr>
          <p:cNvPr id="20" name="Shape 18"/>
          <p:cNvSpPr/>
          <p:nvPr/>
        </p:nvSpPr>
        <p:spPr>
          <a:xfrm>
            <a:off x="2221992" y="2121408"/>
            <a:ext cx="365760" cy="365760"/>
          </a:xfrm>
          <a:prstGeom prst="rect">
            <a:avLst/>
          </a:prstGeom>
          <a:solidFill>
            <a:srgbClr val="6363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606040" y="2121408"/>
            <a:ext cx="365760" cy="3657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90088" y="2121408"/>
            <a:ext cx="365760" cy="36576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3374136" y="2121408"/>
            <a:ext cx="365760" cy="36576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24" name="Shape 22"/>
          <p:cNvSpPr/>
          <p:nvPr/>
        </p:nvSpPr>
        <p:spPr>
          <a:xfrm>
            <a:off x="3758184" y="2121408"/>
            <a:ext cx="365760" cy="365760"/>
          </a:xfrm>
          <a:prstGeom prst="rect">
            <a:avLst/>
          </a:prstGeom>
          <a:solidFill>
            <a:srgbClr val="7E7E7E"/>
          </a:solidFill>
          <a:ln/>
        </p:spPr>
      </p:sp>
      <p:sp>
        <p:nvSpPr>
          <p:cNvPr id="25" name="Shape 23"/>
          <p:cNvSpPr/>
          <p:nvPr/>
        </p:nvSpPr>
        <p:spPr>
          <a:xfrm>
            <a:off x="4142232" y="2121408"/>
            <a:ext cx="365760" cy="36576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2505456"/>
            <a:ext cx="365760" cy="3657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9848" y="2505456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453896" y="2505456"/>
            <a:ext cx="365760" cy="36576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29" name="Shape 27"/>
          <p:cNvSpPr/>
          <p:nvPr/>
        </p:nvSpPr>
        <p:spPr>
          <a:xfrm>
            <a:off x="1837944" y="2505456"/>
            <a:ext cx="365760" cy="365760"/>
          </a:xfrm>
          <a:prstGeom prst="rect">
            <a:avLst/>
          </a:prstGeom>
          <a:solidFill>
            <a:srgbClr val="7D7D7D"/>
          </a:solidFill>
          <a:ln/>
        </p:spPr>
      </p:sp>
      <p:sp>
        <p:nvSpPr>
          <p:cNvPr id="30" name="Text 28"/>
          <p:cNvSpPr/>
          <p:nvPr/>
        </p:nvSpPr>
        <p:spPr>
          <a:xfrm>
            <a:off x="1783080" y="250545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21992" y="2505456"/>
            <a:ext cx="365760" cy="36576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32" name="Text 30"/>
          <p:cNvSpPr/>
          <p:nvPr/>
        </p:nvSpPr>
        <p:spPr>
          <a:xfrm>
            <a:off x="2167128" y="250545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06040" y="2505456"/>
            <a:ext cx="365760" cy="36576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4" name="Text 32"/>
          <p:cNvSpPr/>
          <p:nvPr/>
        </p:nvSpPr>
        <p:spPr>
          <a:xfrm>
            <a:off x="2551176" y="250545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90088" y="2505456"/>
            <a:ext cx="365760" cy="3657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6" name="Text 34"/>
          <p:cNvSpPr/>
          <p:nvPr/>
        </p:nvSpPr>
        <p:spPr>
          <a:xfrm>
            <a:off x="2935224" y="250545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74136" y="2505456"/>
            <a:ext cx="365760" cy="365760"/>
          </a:xfrm>
          <a:prstGeom prst="rect">
            <a:avLst/>
          </a:prstGeom>
          <a:solidFill>
            <a:srgbClr val="646464"/>
          </a:solidFill>
          <a:ln/>
        </p:spPr>
      </p:sp>
      <p:sp>
        <p:nvSpPr>
          <p:cNvPr id="38" name="Shape 36"/>
          <p:cNvSpPr/>
          <p:nvPr/>
        </p:nvSpPr>
        <p:spPr>
          <a:xfrm>
            <a:off x="3758184" y="2505456"/>
            <a:ext cx="365760" cy="365760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39" name="Shape 37"/>
          <p:cNvSpPr/>
          <p:nvPr/>
        </p:nvSpPr>
        <p:spPr>
          <a:xfrm>
            <a:off x="4142232" y="2505456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" y="2889504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9848" y="2889504"/>
            <a:ext cx="365760" cy="365760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42" name="Shape 40"/>
          <p:cNvSpPr/>
          <p:nvPr/>
        </p:nvSpPr>
        <p:spPr>
          <a:xfrm>
            <a:off x="1453896" y="2889504"/>
            <a:ext cx="365760" cy="365760"/>
          </a:xfrm>
          <a:prstGeom prst="rect">
            <a:avLst/>
          </a:prstGeom>
          <a:solidFill>
            <a:srgbClr val="979797"/>
          </a:solidFill>
          <a:ln/>
        </p:spPr>
      </p:sp>
      <p:sp>
        <p:nvSpPr>
          <p:cNvPr id="43" name="Shape 41"/>
          <p:cNvSpPr/>
          <p:nvPr/>
        </p:nvSpPr>
        <p:spPr>
          <a:xfrm>
            <a:off x="1837944" y="2889504"/>
            <a:ext cx="365760" cy="365760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44" name="Shape 42"/>
          <p:cNvSpPr/>
          <p:nvPr/>
        </p:nvSpPr>
        <p:spPr>
          <a:xfrm>
            <a:off x="2221992" y="2889504"/>
            <a:ext cx="365760" cy="36576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45" name="Shape 43"/>
          <p:cNvSpPr/>
          <p:nvPr/>
        </p:nvSpPr>
        <p:spPr>
          <a:xfrm>
            <a:off x="2606040" y="2889504"/>
            <a:ext cx="36576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6" name="Shape 44"/>
          <p:cNvSpPr/>
          <p:nvPr/>
        </p:nvSpPr>
        <p:spPr>
          <a:xfrm>
            <a:off x="2990088" y="2889504"/>
            <a:ext cx="365760" cy="365760"/>
          </a:xfrm>
          <a:prstGeom prst="rect">
            <a:avLst/>
          </a:prstGeom>
          <a:solidFill>
            <a:srgbClr val="4C4C4C"/>
          </a:solidFill>
          <a:ln/>
        </p:spPr>
      </p:sp>
      <p:sp>
        <p:nvSpPr>
          <p:cNvPr id="47" name="Shape 45"/>
          <p:cNvSpPr/>
          <p:nvPr/>
        </p:nvSpPr>
        <p:spPr>
          <a:xfrm>
            <a:off x="3374136" y="2889504"/>
            <a:ext cx="365760" cy="365760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48" name="Shape 46"/>
          <p:cNvSpPr/>
          <p:nvPr/>
        </p:nvSpPr>
        <p:spPr>
          <a:xfrm>
            <a:off x="3758184" y="2889504"/>
            <a:ext cx="365760" cy="36576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9" name="Shape 47"/>
          <p:cNvSpPr/>
          <p:nvPr/>
        </p:nvSpPr>
        <p:spPr>
          <a:xfrm>
            <a:off x="4142232" y="2889504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" y="3273552"/>
            <a:ext cx="365760" cy="36576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1" name="Shape 49"/>
          <p:cNvSpPr/>
          <p:nvPr/>
        </p:nvSpPr>
        <p:spPr>
          <a:xfrm>
            <a:off x="1069848" y="3273552"/>
            <a:ext cx="365760" cy="365760"/>
          </a:xfrm>
          <a:prstGeom prst="rect">
            <a:avLst/>
          </a:prstGeom>
          <a:solidFill>
            <a:srgbClr val="AFAFAF"/>
          </a:solidFill>
          <a:ln/>
        </p:spPr>
      </p:sp>
      <p:sp>
        <p:nvSpPr>
          <p:cNvPr id="52" name="Shape 50"/>
          <p:cNvSpPr/>
          <p:nvPr/>
        </p:nvSpPr>
        <p:spPr>
          <a:xfrm>
            <a:off x="1453896" y="3273552"/>
            <a:ext cx="365760" cy="365760"/>
          </a:xfrm>
          <a:prstGeom prst="rect">
            <a:avLst/>
          </a:prstGeom>
          <a:solidFill>
            <a:srgbClr val="5B5B5B"/>
          </a:solidFill>
          <a:ln/>
        </p:spPr>
      </p:sp>
      <p:sp>
        <p:nvSpPr>
          <p:cNvPr id="53" name="Shape 51"/>
          <p:cNvSpPr/>
          <p:nvPr/>
        </p:nvSpPr>
        <p:spPr>
          <a:xfrm>
            <a:off x="1837944" y="3273552"/>
            <a:ext cx="365760" cy="36576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54" name="Shape 52"/>
          <p:cNvSpPr/>
          <p:nvPr/>
        </p:nvSpPr>
        <p:spPr>
          <a:xfrm>
            <a:off x="2221992" y="3273552"/>
            <a:ext cx="365760" cy="36576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55" name="Shape 53"/>
          <p:cNvSpPr/>
          <p:nvPr/>
        </p:nvSpPr>
        <p:spPr>
          <a:xfrm>
            <a:off x="2606040" y="3273552"/>
            <a:ext cx="365760" cy="365760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56" name="Shape 54"/>
          <p:cNvSpPr/>
          <p:nvPr/>
        </p:nvSpPr>
        <p:spPr>
          <a:xfrm>
            <a:off x="2990088" y="3273552"/>
            <a:ext cx="365760" cy="365760"/>
          </a:xfrm>
          <a:prstGeom prst="rect">
            <a:avLst/>
          </a:prstGeom>
          <a:solidFill>
            <a:srgbClr val="868686"/>
          </a:solidFill>
          <a:ln/>
        </p:spPr>
      </p:sp>
      <p:sp>
        <p:nvSpPr>
          <p:cNvPr id="57" name="Shape 55"/>
          <p:cNvSpPr/>
          <p:nvPr/>
        </p:nvSpPr>
        <p:spPr>
          <a:xfrm>
            <a:off x="3374136" y="3273552"/>
            <a:ext cx="365760" cy="3657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8" name="Shape 56"/>
          <p:cNvSpPr/>
          <p:nvPr/>
        </p:nvSpPr>
        <p:spPr>
          <a:xfrm>
            <a:off x="3758184" y="3273552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9" name="Shape 57"/>
          <p:cNvSpPr/>
          <p:nvPr/>
        </p:nvSpPr>
        <p:spPr>
          <a:xfrm>
            <a:off x="4142232" y="3273552"/>
            <a:ext cx="365760" cy="3657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0" name="Shape 58"/>
          <p:cNvSpPr/>
          <p:nvPr/>
        </p:nvSpPr>
        <p:spPr>
          <a:xfrm>
            <a:off x="685800" y="3657600"/>
            <a:ext cx="365760" cy="365760"/>
          </a:xfrm>
          <a:prstGeom prst="rect">
            <a:avLst/>
          </a:prstGeom>
          <a:solidFill>
            <a:srgbClr val="C6C6C6"/>
          </a:solidFill>
          <a:ln/>
        </p:spPr>
      </p:sp>
      <p:sp>
        <p:nvSpPr>
          <p:cNvPr id="61" name="Shape 59"/>
          <p:cNvSpPr/>
          <p:nvPr/>
        </p:nvSpPr>
        <p:spPr>
          <a:xfrm>
            <a:off x="1069848" y="3657600"/>
            <a:ext cx="365760" cy="365760"/>
          </a:xfrm>
          <a:prstGeom prst="rect">
            <a:avLst/>
          </a:prstGeom>
          <a:solidFill>
            <a:srgbClr val="747474"/>
          </a:solidFill>
          <a:ln/>
        </p:spPr>
      </p:sp>
      <p:sp>
        <p:nvSpPr>
          <p:cNvPr id="62" name="Shape 60"/>
          <p:cNvSpPr/>
          <p:nvPr/>
        </p:nvSpPr>
        <p:spPr>
          <a:xfrm>
            <a:off x="1453896" y="3657600"/>
            <a:ext cx="365760" cy="36576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63" name="Shape 61"/>
          <p:cNvSpPr/>
          <p:nvPr/>
        </p:nvSpPr>
        <p:spPr>
          <a:xfrm>
            <a:off x="1837944" y="3657600"/>
            <a:ext cx="365760" cy="36576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64" name="Shape 62"/>
          <p:cNvSpPr/>
          <p:nvPr/>
        </p:nvSpPr>
        <p:spPr>
          <a:xfrm>
            <a:off x="2221992" y="3657600"/>
            <a:ext cx="365760" cy="36576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65" name="Shape 63"/>
          <p:cNvSpPr/>
          <p:nvPr/>
        </p:nvSpPr>
        <p:spPr>
          <a:xfrm>
            <a:off x="2606040" y="3657600"/>
            <a:ext cx="365760" cy="365760"/>
          </a:xfrm>
          <a:prstGeom prst="rect">
            <a:avLst/>
          </a:prstGeom>
          <a:solidFill>
            <a:srgbClr val="6D6D6D"/>
          </a:solidFill>
          <a:ln/>
        </p:spPr>
      </p:sp>
      <p:sp>
        <p:nvSpPr>
          <p:cNvPr id="66" name="Shape 64"/>
          <p:cNvSpPr/>
          <p:nvPr/>
        </p:nvSpPr>
        <p:spPr>
          <a:xfrm>
            <a:off x="2990088" y="3657600"/>
            <a:ext cx="365760" cy="36576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7" name="Shape 65"/>
          <p:cNvSpPr/>
          <p:nvPr/>
        </p:nvSpPr>
        <p:spPr>
          <a:xfrm>
            <a:off x="3374136" y="3657600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758184" y="3657600"/>
            <a:ext cx="365760" cy="36576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69" name="Shape 67"/>
          <p:cNvSpPr/>
          <p:nvPr/>
        </p:nvSpPr>
        <p:spPr>
          <a:xfrm>
            <a:off x="4142232" y="3657600"/>
            <a:ext cx="365760" cy="365760"/>
          </a:xfrm>
          <a:prstGeom prst="rect">
            <a:avLst/>
          </a:prstGeom>
          <a:solidFill>
            <a:srgbClr val="B1B1B1"/>
          </a:solidFill>
          <a:ln/>
        </p:spPr>
      </p:sp>
      <p:sp>
        <p:nvSpPr>
          <p:cNvPr id="70" name="Shape 68"/>
          <p:cNvSpPr/>
          <p:nvPr/>
        </p:nvSpPr>
        <p:spPr>
          <a:xfrm>
            <a:off x="685800" y="4041648"/>
            <a:ext cx="365760" cy="365760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71" name="Shape 69"/>
          <p:cNvSpPr/>
          <p:nvPr/>
        </p:nvSpPr>
        <p:spPr>
          <a:xfrm>
            <a:off x="1069848" y="4041648"/>
            <a:ext cx="365760" cy="365760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72" name="Shape 70"/>
          <p:cNvSpPr/>
          <p:nvPr/>
        </p:nvSpPr>
        <p:spPr>
          <a:xfrm>
            <a:off x="1453896" y="4041648"/>
            <a:ext cx="365760" cy="36576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73" name="Shape 71"/>
          <p:cNvSpPr/>
          <p:nvPr/>
        </p:nvSpPr>
        <p:spPr>
          <a:xfrm>
            <a:off x="1837944" y="4041648"/>
            <a:ext cx="365760" cy="36576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74" name="Shape 72"/>
          <p:cNvSpPr/>
          <p:nvPr/>
        </p:nvSpPr>
        <p:spPr>
          <a:xfrm>
            <a:off x="2221992" y="4041648"/>
            <a:ext cx="365760" cy="365760"/>
          </a:xfrm>
          <a:prstGeom prst="rect">
            <a:avLst/>
          </a:prstGeom>
          <a:solidFill>
            <a:srgbClr val="545454"/>
          </a:solidFill>
          <a:ln/>
        </p:spPr>
      </p:sp>
      <p:sp>
        <p:nvSpPr>
          <p:cNvPr id="75" name="Shape 73"/>
          <p:cNvSpPr/>
          <p:nvPr/>
        </p:nvSpPr>
        <p:spPr>
          <a:xfrm>
            <a:off x="2606040" y="4041648"/>
            <a:ext cx="365760" cy="36576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76" name="Shape 74"/>
          <p:cNvSpPr/>
          <p:nvPr/>
        </p:nvSpPr>
        <p:spPr>
          <a:xfrm>
            <a:off x="2990088" y="4041648"/>
            <a:ext cx="365760" cy="365760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77" name="Shape 75"/>
          <p:cNvSpPr/>
          <p:nvPr/>
        </p:nvSpPr>
        <p:spPr>
          <a:xfrm>
            <a:off x="3374136" y="4041648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8" name="Shape 76"/>
          <p:cNvSpPr/>
          <p:nvPr/>
        </p:nvSpPr>
        <p:spPr>
          <a:xfrm>
            <a:off x="3758184" y="4041648"/>
            <a:ext cx="365760" cy="365760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79" name="Shape 77"/>
          <p:cNvSpPr/>
          <p:nvPr/>
        </p:nvSpPr>
        <p:spPr>
          <a:xfrm>
            <a:off x="4142232" y="4041648"/>
            <a:ext cx="365760" cy="365760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80" name="Shape 78"/>
          <p:cNvSpPr/>
          <p:nvPr/>
        </p:nvSpPr>
        <p:spPr>
          <a:xfrm>
            <a:off x="685800" y="4425696"/>
            <a:ext cx="365760" cy="365760"/>
          </a:xfrm>
          <a:prstGeom prst="rect">
            <a:avLst/>
          </a:prstGeom>
          <a:solidFill>
            <a:srgbClr val="535353"/>
          </a:solidFill>
          <a:ln/>
        </p:spPr>
      </p:sp>
      <p:sp>
        <p:nvSpPr>
          <p:cNvPr id="81" name="Shape 79"/>
          <p:cNvSpPr/>
          <p:nvPr/>
        </p:nvSpPr>
        <p:spPr>
          <a:xfrm>
            <a:off x="1069848" y="4425696"/>
            <a:ext cx="365760" cy="36576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82" name="Shape 80"/>
          <p:cNvSpPr/>
          <p:nvPr/>
        </p:nvSpPr>
        <p:spPr>
          <a:xfrm>
            <a:off x="1453896" y="4425696"/>
            <a:ext cx="365760" cy="36576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83" name="Shape 81"/>
          <p:cNvSpPr/>
          <p:nvPr/>
        </p:nvSpPr>
        <p:spPr>
          <a:xfrm>
            <a:off x="1837944" y="4425696"/>
            <a:ext cx="365760" cy="36576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4" name="Shape 82"/>
          <p:cNvSpPr/>
          <p:nvPr/>
        </p:nvSpPr>
        <p:spPr>
          <a:xfrm>
            <a:off x="2221992" y="4425696"/>
            <a:ext cx="365760" cy="365760"/>
          </a:xfrm>
          <a:prstGeom prst="rect">
            <a:avLst/>
          </a:prstGeom>
          <a:solidFill>
            <a:srgbClr val="8F8F8F"/>
          </a:solidFill>
          <a:ln/>
        </p:spPr>
      </p:sp>
      <p:sp>
        <p:nvSpPr>
          <p:cNvPr id="85" name="Shape 83"/>
          <p:cNvSpPr/>
          <p:nvPr/>
        </p:nvSpPr>
        <p:spPr>
          <a:xfrm>
            <a:off x="2606040" y="4425696"/>
            <a:ext cx="365760" cy="365760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86" name="Shape 84"/>
          <p:cNvSpPr/>
          <p:nvPr/>
        </p:nvSpPr>
        <p:spPr>
          <a:xfrm>
            <a:off x="2990088" y="4425696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7" name="Shape 85"/>
          <p:cNvSpPr/>
          <p:nvPr/>
        </p:nvSpPr>
        <p:spPr>
          <a:xfrm>
            <a:off x="3374136" y="4425696"/>
            <a:ext cx="365760" cy="36576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88" name="Shape 86"/>
          <p:cNvSpPr/>
          <p:nvPr/>
        </p:nvSpPr>
        <p:spPr>
          <a:xfrm>
            <a:off x="3758184" y="4425696"/>
            <a:ext cx="365760" cy="36576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89" name="Shape 87"/>
          <p:cNvSpPr/>
          <p:nvPr/>
        </p:nvSpPr>
        <p:spPr>
          <a:xfrm>
            <a:off x="4142232" y="4425696"/>
            <a:ext cx="365760" cy="365760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90" name="Shape 88"/>
          <p:cNvSpPr/>
          <p:nvPr/>
        </p:nvSpPr>
        <p:spPr>
          <a:xfrm>
            <a:off x="685800" y="4809744"/>
            <a:ext cx="365760" cy="36576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91" name="Shape 89"/>
          <p:cNvSpPr/>
          <p:nvPr/>
        </p:nvSpPr>
        <p:spPr>
          <a:xfrm>
            <a:off x="1069848" y="4809744"/>
            <a:ext cx="365760" cy="36576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92" name="Shape 90"/>
          <p:cNvSpPr/>
          <p:nvPr/>
        </p:nvSpPr>
        <p:spPr>
          <a:xfrm>
            <a:off x="1453896" y="4809744"/>
            <a:ext cx="365760" cy="365760"/>
          </a:xfrm>
          <a:prstGeom prst="rect">
            <a:avLst/>
          </a:prstGeom>
          <a:solidFill>
            <a:srgbClr val="292929"/>
          </a:solidFill>
          <a:ln/>
        </p:spPr>
      </p:sp>
      <p:sp>
        <p:nvSpPr>
          <p:cNvPr id="93" name="Shape 91"/>
          <p:cNvSpPr/>
          <p:nvPr/>
        </p:nvSpPr>
        <p:spPr>
          <a:xfrm>
            <a:off x="1837944" y="4809744"/>
            <a:ext cx="365760" cy="36576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94" name="Shape 92"/>
          <p:cNvSpPr/>
          <p:nvPr/>
        </p:nvSpPr>
        <p:spPr>
          <a:xfrm>
            <a:off x="2221992" y="4809744"/>
            <a:ext cx="365760" cy="365760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95" name="Shape 93"/>
          <p:cNvSpPr/>
          <p:nvPr/>
        </p:nvSpPr>
        <p:spPr>
          <a:xfrm>
            <a:off x="2606040" y="4809744"/>
            <a:ext cx="36576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6" name="Shape 94"/>
          <p:cNvSpPr/>
          <p:nvPr/>
        </p:nvSpPr>
        <p:spPr>
          <a:xfrm>
            <a:off x="2990088" y="4809744"/>
            <a:ext cx="365760" cy="365760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97" name="Shape 95"/>
          <p:cNvSpPr/>
          <p:nvPr/>
        </p:nvSpPr>
        <p:spPr>
          <a:xfrm>
            <a:off x="3374136" y="4809744"/>
            <a:ext cx="365760" cy="365760"/>
          </a:xfrm>
          <a:prstGeom prst="rect">
            <a:avLst/>
          </a:prstGeom>
          <a:solidFill>
            <a:srgbClr val="A9A9A9"/>
          </a:solidFill>
          <a:ln/>
        </p:spPr>
      </p:sp>
      <p:sp>
        <p:nvSpPr>
          <p:cNvPr id="98" name="Shape 96"/>
          <p:cNvSpPr/>
          <p:nvPr/>
        </p:nvSpPr>
        <p:spPr>
          <a:xfrm>
            <a:off x="3758184" y="4809744"/>
            <a:ext cx="365760" cy="36576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99" name="Shape 97"/>
          <p:cNvSpPr/>
          <p:nvPr/>
        </p:nvSpPr>
        <p:spPr>
          <a:xfrm>
            <a:off x="4142232" y="4809744"/>
            <a:ext cx="365760" cy="36576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00" name="Text 98"/>
          <p:cNvSpPr/>
          <p:nvPr/>
        </p:nvSpPr>
        <p:spPr>
          <a:xfrm>
            <a:off x="685800" y="5303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cada casilla es un píxel: un número de 0 (negro) a 255 (blanco)</a:t>
            </a:r>
            <a:endParaRPr lang="en-US" sz="1150" dirty="0"/>
          </a:p>
        </p:txBody>
      </p:sp>
      <p:sp>
        <p:nvSpPr>
          <p:cNvPr id="101" name="Shape 99"/>
          <p:cNvSpPr/>
          <p:nvPr/>
        </p:nvSpPr>
        <p:spPr>
          <a:xfrm>
            <a:off x="5394960" y="1737360"/>
            <a:ext cx="6217920" cy="2286000"/>
          </a:xfrm>
          <a:prstGeom prst="roundRect">
            <a:avLst>
              <a:gd name="adj" fmla="val 3600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69280" y="192024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foto del lector mide </a:t>
            </a:r>
            <a:pPr indent="0" marL="0">
              <a:buNone/>
            </a:pPr>
            <a:r>
              <a:rPr lang="en-US" sz="15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 × 290 píxeles</a:t>
            </a:r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indent="0" marL="0">
              <a:buNone/>
            </a:pPr>
            <a:r>
              <a:rPr lang="en-US" sz="15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111.360 números</a:t>
            </a:r>
            <a:pPr indent="0" marL="0">
              <a:buNone/>
            </a:pPr>
            <a:r>
              <a:rPr lang="en-US" sz="15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crestas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(las líneas en relieve de tu dedo) salen oscuras; los </a:t>
            </a:r>
            <a:pPr indent="0" marL="0">
              <a:buNone/>
            </a:pPr>
            <a:r>
              <a:rPr lang="en-US" sz="15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valles</a:t>
            </a:r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claros. Para el chip, tu huella es solo una tabla gigante de números.</a:t>
            </a:r>
            <a:endParaRPr lang="en-US" sz="1500" dirty="0"/>
          </a:p>
        </p:txBody>
      </p:sp>
      <p:sp>
        <p:nvSpPr>
          <p:cNvPr id="103" name="Shape 101"/>
          <p:cNvSpPr/>
          <p:nvPr/>
        </p:nvSpPr>
        <p:spPr>
          <a:xfrm>
            <a:off x="5394960" y="4251960"/>
            <a:ext cx="6217920" cy="1417320"/>
          </a:xfrm>
          <a:prstGeom prst="roundRect">
            <a:avLst>
              <a:gd name="adj" fmla="val 5806"/>
            </a:avLst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0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4617720"/>
            <a:ext cx="640080" cy="640080"/>
          </a:xfrm>
          <a:prstGeom prst="rect">
            <a:avLst/>
          </a:prstGeom>
        </p:spPr>
      </p:pic>
      <p:sp>
        <p:nvSpPr>
          <p:cNvPr id="105" name="Text 102"/>
          <p:cNvSpPr/>
          <p:nvPr/>
        </p:nvSpPr>
        <p:spPr>
          <a:xfrm>
            <a:off x="6537960" y="44348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Dato: </a:t>
            </a:r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chip captura y arma esa foto en medio segundo — 111.360 números organizados más rápido que un parpadeo.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viaje de tu dedo (en 6 paradas)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002536"/>
            <a:ext cx="530352" cy="53035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645" y="2119213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984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Pones el dedo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54480" y="24048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sensor lo detecta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instante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69080" y="24003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526280" y="178308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27448" y="2002536"/>
            <a:ext cx="530352" cy="53035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125" y="2119213"/>
            <a:ext cx="296997" cy="296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984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Viaja por USB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394960" y="24048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foto llega al chip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¡cifrada!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909560" y="24003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366760" y="178308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67928" y="2002536"/>
            <a:ext cx="530352" cy="53035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605" y="2119213"/>
            <a:ext cx="296997" cy="29699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35440" y="1984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Se descifra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9235440" y="24048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 XOR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llave secreta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02336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86968" y="4242816"/>
            <a:ext cx="530352" cy="53035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45" y="4359493"/>
            <a:ext cx="296997" cy="29699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4224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Minucias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1554480" y="46451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extraen 20-50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únicos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069080" y="46405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Shape 23"/>
          <p:cNvSpPr/>
          <p:nvPr/>
        </p:nvSpPr>
        <p:spPr>
          <a:xfrm>
            <a:off x="4526280" y="402336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727448" y="4242816"/>
            <a:ext cx="530352" cy="53035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125" y="4359493"/>
            <a:ext cx="296997" cy="29699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94960" y="4224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Se compara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5394960" y="46451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Geometría contra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enrolados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7909560" y="46405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35" name="Shape 28"/>
          <p:cNvSpPr/>
          <p:nvPr/>
        </p:nvSpPr>
        <p:spPr>
          <a:xfrm>
            <a:off x="8366760" y="402336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567928" y="4242816"/>
            <a:ext cx="530352" cy="53035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4605" y="4359493"/>
            <a:ext cx="296997" cy="29699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235440" y="4224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Veredicto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9235440" y="46451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Permitido, duplicado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desconocido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6858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parte dura 1,5 segundos: pones el dedo, la pantalla dice «HUELLA LEÍDA, retira» — y el resto lo hace el chip solo.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PASO 3: DESCIFRAR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imagen llega cifrada (como mensaje secreto)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92608" cy="292608"/>
          </a:xfrm>
          <a:prstGeom prst="rect">
            <a:avLst/>
          </a:prstGeom>
          <a:solidFill>
            <a:srgbClr val="A7A7A7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2057400"/>
            <a:ext cx="292608" cy="292608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8" name="Shape 6"/>
          <p:cNvSpPr/>
          <p:nvPr/>
        </p:nvSpPr>
        <p:spPr>
          <a:xfrm>
            <a:off x="1444752" y="2057400"/>
            <a:ext cx="292608" cy="292608"/>
          </a:xfrm>
          <a:prstGeom prst="rect">
            <a:avLst/>
          </a:prstGeom>
          <a:solidFill>
            <a:srgbClr val="313131"/>
          </a:solidFill>
          <a:ln/>
        </p:spPr>
      </p:sp>
      <p:sp>
        <p:nvSpPr>
          <p:cNvPr id="9" name="Shape 7"/>
          <p:cNvSpPr/>
          <p:nvPr/>
        </p:nvSpPr>
        <p:spPr>
          <a:xfrm>
            <a:off x="1755648" y="2057400"/>
            <a:ext cx="292608" cy="292608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0" name="Shape 8"/>
          <p:cNvSpPr/>
          <p:nvPr/>
        </p:nvSpPr>
        <p:spPr>
          <a:xfrm>
            <a:off x="2066544" y="2057400"/>
            <a:ext cx="292608" cy="292608"/>
          </a:xfrm>
          <a:prstGeom prst="rect">
            <a:avLst/>
          </a:prstGeom>
          <a:solidFill>
            <a:srgbClr val="797979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2057400"/>
            <a:ext cx="292608" cy="292608"/>
          </a:xfrm>
          <a:prstGeom prst="rect">
            <a:avLst/>
          </a:prstGeom>
          <a:solidFill>
            <a:srgbClr val="1D1D1D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368296"/>
            <a:ext cx="292608" cy="292608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" y="2368296"/>
            <a:ext cx="292608" cy="292608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4752" y="2368296"/>
            <a:ext cx="292608" cy="292608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15" name="Shape 13"/>
          <p:cNvSpPr/>
          <p:nvPr/>
        </p:nvSpPr>
        <p:spPr>
          <a:xfrm>
            <a:off x="1755648" y="2368296"/>
            <a:ext cx="292608" cy="292608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16" name="Shape 14"/>
          <p:cNvSpPr/>
          <p:nvPr/>
        </p:nvSpPr>
        <p:spPr>
          <a:xfrm>
            <a:off x="2066544" y="2368296"/>
            <a:ext cx="292608" cy="292608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2368296"/>
            <a:ext cx="292608" cy="292608"/>
          </a:xfrm>
          <a:prstGeom prst="rect">
            <a:avLst/>
          </a:prstGeom>
          <a:solidFill>
            <a:srgbClr val="AEAEA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2679192"/>
            <a:ext cx="292608" cy="29260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3856" y="2679192"/>
            <a:ext cx="292608" cy="292608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44752" y="2679192"/>
            <a:ext cx="292608" cy="292608"/>
          </a:xfrm>
          <a:prstGeom prst="rect">
            <a:avLst/>
          </a:prstGeom>
          <a:solidFill>
            <a:srgbClr val="A1A1A1"/>
          </a:solidFill>
          <a:ln/>
        </p:spPr>
      </p:sp>
      <p:sp>
        <p:nvSpPr>
          <p:cNvPr id="21" name="Shape 19"/>
          <p:cNvSpPr/>
          <p:nvPr/>
        </p:nvSpPr>
        <p:spPr>
          <a:xfrm>
            <a:off x="1755648" y="2679192"/>
            <a:ext cx="292608" cy="292608"/>
          </a:xfrm>
          <a:prstGeom prst="rect">
            <a:avLst/>
          </a:prstGeom>
          <a:solidFill>
            <a:srgbClr val="919191"/>
          </a:solidFill>
          <a:ln/>
        </p:spPr>
      </p:sp>
      <p:sp>
        <p:nvSpPr>
          <p:cNvPr id="22" name="Shape 20"/>
          <p:cNvSpPr/>
          <p:nvPr/>
        </p:nvSpPr>
        <p:spPr>
          <a:xfrm>
            <a:off x="2066544" y="2679192"/>
            <a:ext cx="292608" cy="292608"/>
          </a:xfrm>
          <a:prstGeom prst="rect">
            <a:avLst/>
          </a:prstGeom>
          <a:solidFill>
            <a:srgbClr val="585858"/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2679192"/>
            <a:ext cx="292608" cy="292608"/>
          </a:xfrm>
          <a:prstGeom prst="rect">
            <a:avLst/>
          </a:prstGeom>
          <a:solidFill>
            <a:srgbClr val="B5B5B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2990088"/>
            <a:ext cx="292608" cy="292608"/>
          </a:xfrm>
          <a:prstGeom prst="rect">
            <a:avLst/>
          </a:prstGeom>
          <a:solidFill>
            <a:srgbClr val="616161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3856" y="2990088"/>
            <a:ext cx="292608" cy="292608"/>
          </a:xfrm>
          <a:prstGeom prst="rect">
            <a:avLst/>
          </a:prstGeom>
          <a:solidFill>
            <a:srgbClr val="B7B7B7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4752" y="2990088"/>
            <a:ext cx="292608" cy="29260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7" name="Shape 25"/>
          <p:cNvSpPr/>
          <p:nvPr/>
        </p:nvSpPr>
        <p:spPr>
          <a:xfrm>
            <a:off x="1755648" y="2990088"/>
            <a:ext cx="292608" cy="29260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8" name="Shape 26"/>
          <p:cNvSpPr/>
          <p:nvPr/>
        </p:nvSpPr>
        <p:spPr>
          <a:xfrm>
            <a:off x="2066544" y="2990088"/>
            <a:ext cx="292608" cy="292608"/>
          </a:xfrm>
          <a:prstGeom prst="rect">
            <a:avLst/>
          </a:prstGeom>
          <a:solidFill>
            <a:srgbClr val="949494"/>
          </a:solidFill>
          <a:ln/>
        </p:spPr>
      </p:sp>
      <p:sp>
        <p:nvSpPr>
          <p:cNvPr id="29" name="Shape 27"/>
          <p:cNvSpPr/>
          <p:nvPr/>
        </p:nvSpPr>
        <p:spPr>
          <a:xfrm>
            <a:off x="2377440" y="2990088"/>
            <a:ext cx="292608" cy="292608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3300984"/>
            <a:ext cx="292608" cy="292608"/>
          </a:xfrm>
          <a:prstGeom prst="rect">
            <a:avLst/>
          </a:prstGeom>
          <a:solidFill>
            <a:srgbClr val="A7A7A7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3856" y="3300984"/>
            <a:ext cx="292608" cy="292608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4752" y="3300984"/>
            <a:ext cx="292608" cy="292608"/>
          </a:xfrm>
          <a:prstGeom prst="rect">
            <a:avLst/>
          </a:prstGeom>
          <a:solidFill>
            <a:srgbClr val="313131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5648" y="3300984"/>
            <a:ext cx="292608" cy="292608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4" name="Shape 32"/>
          <p:cNvSpPr/>
          <p:nvPr/>
        </p:nvSpPr>
        <p:spPr>
          <a:xfrm>
            <a:off x="2066544" y="3300984"/>
            <a:ext cx="292608" cy="292608"/>
          </a:xfrm>
          <a:prstGeom prst="rect">
            <a:avLst/>
          </a:prstGeom>
          <a:solidFill>
            <a:srgbClr val="797979"/>
          </a:solidFill>
          <a:ln/>
        </p:spPr>
      </p:sp>
      <p:sp>
        <p:nvSpPr>
          <p:cNvPr id="35" name="Shape 33"/>
          <p:cNvSpPr/>
          <p:nvPr/>
        </p:nvSpPr>
        <p:spPr>
          <a:xfrm>
            <a:off x="2377440" y="3300984"/>
            <a:ext cx="292608" cy="292608"/>
          </a:xfrm>
          <a:prstGeom prst="rect">
            <a:avLst/>
          </a:prstGeom>
          <a:solidFill>
            <a:srgbClr val="1D1D1D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3611880"/>
            <a:ext cx="292608" cy="292608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33856" y="3611880"/>
            <a:ext cx="292608" cy="292608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38" name="Shape 36"/>
          <p:cNvSpPr/>
          <p:nvPr/>
        </p:nvSpPr>
        <p:spPr>
          <a:xfrm>
            <a:off x="1444752" y="3611880"/>
            <a:ext cx="292608" cy="292608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39" name="Shape 37"/>
          <p:cNvSpPr/>
          <p:nvPr/>
        </p:nvSpPr>
        <p:spPr>
          <a:xfrm>
            <a:off x="1755648" y="3611880"/>
            <a:ext cx="292608" cy="292608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40" name="Shape 38"/>
          <p:cNvSpPr/>
          <p:nvPr/>
        </p:nvSpPr>
        <p:spPr>
          <a:xfrm>
            <a:off x="2066544" y="3611880"/>
            <a:ext cx="292608" cy="292608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41" name="Shape 39"/>
          <p:cNvSpPr/>
          <p:nvPr/>
        </p:nvSpPr>
        <p:spPr>
          <a:xfrm>
            <a:off x="2377440" y="3611880"/>
            <a:ext cx="292608" cy="292608"/>
          </a:xfrm>
          <a:prstGeom prst="rect">
            <a:avLst/>
          </a:prstGeom>
          <a:solidFill>
            <a:srgbClr val="AEAEAE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LLEGA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(ruido puro)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46120" y="2697480"/>
            <a:ext cx="685800" cy="6858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6996" y="2848356"/>
            <a:ext cx="384048" cy="38404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2971800" y="3429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con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llave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4709160" y="2057400"/>
            <a:ext cx="292608" cy="292608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47" name="Shape 44"/>
          <p:cNvSpPr/>
          <p:nvPr/>
        </p:nvSpPr>
        <p:spPr>
          <a:xfrm>
            <a:off x="5020056" y="2057400"/>
            <a:ext cx="292608" cy="292608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48" name="Shape 45"/>
          <p:cNvSpPr/>
          <p:nvPr/>
        </p:nvSpPr>
        <p:spPr>
          <a:xfrm>
            <a:off x="5330952" y="2057400"/>
            <a:ext cx="292608" cy="29260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9" name="Shape 46"/>
          <p:cNvSpPr/>
          <p:nvPr/>
        </p:nvSpPr>
        <p:spPr>
          <a:xfrm>
            <a:off x="5641848" y="2057400"/>
            <a:ext cx="292608" cy="29260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Shape 47"/>
          <p:cNvSpPr/>
          <p:nvPr/>
        </p:nvSpPr>
        <p:spPr>
          <a:xfrm>
            <a:off x="5952744" y="2057400"/>
            <a:ext cx="292608" cy="292608"/>
          </a:xfrm>
          <a:prstGeom prst="rect">
            <a:avLst/>
          </a:prstGeom>
          <a:solidFill>
            <a:srgbClr val="9F9F9F"/>
          </a:solidFill>
          <a:ln/>
        </p:spPr>
      </p:sp>
      <p:sp>
        <p:nvSpPr>
          <p:cNvPr id="51" name="Shape 48"/>
          <p:cNvSpPr/>
          <p:nvPr/>
        </p:nvSpPr>
        <p:spPr>
          <a:xfrm>
            <a:off x="6263640" y="2057400"/>
            <a:ext cx="292608" cy="292608"/>
          </a:xfrm>
          <a:prstGeom prst="rect">
            <a:avLst/>
          </a:prstGeom>
          <a:solidFill>
            <a:srgbClr val="4B4B4B"/>
          </a:solidFill>
          <a:ln/>
        </p:spPr>
      </p:sp>
      <p:sp>
        <p:nvSpPr>
          <p:cNvPr id="52" name="Shape 49"/>
          <p:cNvSpPr/>
          <p:nvPr/>
        </p:nvSpPr>
        <p:spPr>
          <a:xfrm>
            <a:off x="4709160" y="2368296"/>
            <a:ext cx="292608" cy="292608"/>
          </a:xfrm>
          <a:prstGeom prst="rect">
            <a:avLst/>
          </a:prstGeom>
          <a:solidFill>
            <a:srgbClr val="BABAB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0056" y="2368296"/>
            <a:ext cx="292608" cy="29260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4" name="Shape 51"/>
          <p:cNvSpPr/>
          <p:nvPr/>
        </p:nvSpPr>
        <p:spPr>
          <a:xfrm>
            <a:off x="5330952" y="2368296"/>
            <a:ext cx="292608" cy="29260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5" name="Shape 52"/>
          <p:cNvSpPr/>
          <p:nvPr/>
        </p:nvSpPr>
        <p:spPr>
          <a:xfrm>
            <a:off x="5641848" y="2368296"/>
            <a:ext cx="292608" cy="292608"/>
          </a:xfrm>
          <a:prstGeom prst="rect">
            <a:avLst/>
          </a:prstGeom>
          <a:solidFill>
            <a:srgbClr val="B7B7B7"/>
          </a:solidFill>
          <a:ln/>
        </p:spPr>
      </p:sp>
      <p:sp>
        <p:nvSpPr>
          <p:cNvPr id="56" name="Shape 53"/>
          <p:cNvSpPr/>
          <p:nvPr/>
        </p:nvSpPr>
        <p:spPr>
          <a:xfrm>
            <a:off x="5952744" y="2368296"/>
            <a:ext cx="292608" cy="292608"/>
          </a:xfrm>
          <a:prstGeom prst="rect">
            <a:avLst/>
          </a:prstGeom>
          <a:solidFill>
            <a:srgbClr val="636363"/>
          </a:solidFill>
          <a:ln/>
        </p:spPr>
      </p:sp>
      <p:sp>
        <p:nvSpPr>
          <p:cNvPr id="57" name="Shape 54"/>
          <p:cNvSpPr/>
          <p:nvPr/>
        </p:nvSpPr>
        <p:spPr>
          <a:xfrm>
            <a:off x="6263640" y="2368296"/>
            <a:ext cx="292608" cy="29260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8" name="Shape 55"/>
          <p:cNvSpPr/>
          <p:nvPr/>
        </p:nvSpPr>
        <p:spPr>
          <a:xfrm>
            <a:off x="4709160" y="2679192"/>
            <a:ext cx="292608" cy="29260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9" name="Shape 56"/>
          <p:cNvSpPr/>
          <p:nvPr/>
        </p:nvSpPr>
        <p:spPr>
          <a:xfrm>
            <a:off x="5020056" y="2679192"/>
            <a:ext cx="292608" cy="29260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0" name="Shape 57"/>
          <p:cNvSpPr/>
          <p:nvPr/>
        </p:nvSpPr>
        <p:spPr>
          <a:xfrm>
            <a:off x="5330952" y="2679192"/>
            <a:ext cx="292608" cy="292608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61" name="Shape 58"/>
          <p:cNvSpPr/>
          <p:nvPr/>
        </p:nvSpPr>
        <p:spPr>
          <a:xfrm>
            <a:off x="5641848" y="2679192"/>
            <a:ext cx="292608" cy="292608"/>
          </a:xfrm>
          <a:prstGeom prst="rect">
            <a:avLst/>
          </a:prstGeom>
          <a:solidFill>
            <a:srgbClr val="7D7D7D"/>
          </a:solidFill>
          <a:ln/>
        </p:spPr>
      </p:sp>
      <p:sp>
        <p:nvSpPr>
          <p:cNvPr id="62" name="Shape 59"/>
          <p:cNvSpPr/>
          <p:nvPr/>
        </p:nvSpPr>
        <p:spPr>
          <a:xfrm>
            <a:off x="5952744" y="2679192"/>
            <a:ext cx="292608" cy="292608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63" name="Shape 60"/>
          <p:cNvSpPr/>
          <p:nvPr/>
        </p:nvSpPr>
        <p:spPr>
          <a:xfrm>
            <a:off x="6263640" y="2679192"/>
            <a:ext cx="292608" cy="29260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64" name="Shape 61"/>
          <p:cNvSpPr/>
          <p:nvPr/>
        </p:nvSpPr>
        <p:spPr>
          <a:xfrm>
            <a:off x="4709160" y="2990088"/>
            <a:ext cx="292608" cy="29260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5" name="Shape 62"/>
          <p:cNvSpPr/>
          <p:nvPr/>
        </p:nvSpPr>
        <p:spPr>
          <a:xfrm>
            <a:off x="5020056" y="2990088"/>
            <a:ext cx="292608" cy="292608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66" name="Shape 63"/>
          <p:cNvSpPr/>
          <p:nvPr/>
        </p:nvSpPr>
        <p:spPr>
          <a:xfrm>
            <a:off x="5330952" y="2990088"/>
            <a:ext cx="292608" cy="292608"/>
          </a:xfrm>
          <a:prstGeom prst="rect">
            <a:avLst/>
          </a:prstGeom>
          <a:solidFill>
            <a:srgbClr val="979797"/>
          </a:solidFill>
          <a:ln/>
        </p:spPr>
      </p:sp>
      <p:sp>
        <p:nvSpPr>
          <p:cNvPr id="67" name="Shape 64"/>
          <p:cNvSpPr/>
          <p:nvPr/>
        </p:nvSpPr>
        <p:spPr>
          <a:xfrm>
            <a:off x="5641848" y="2990088"/>
            <a:ext cx="292608" cy="292608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68" name="Shape 65"/>
          <p:cNvSpPr/>
          <p:nvPr/>
        </p:nvSpPr>
        <p:spPr>
          <a:xfrm>
            <a:off x="5952744" y="2990088"/>
            <a:ext cx="292608" cy="29260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69" name="Shape 66"/>
          <p:cNvSpPr/>
          <p:nvPr/>
        </p:nvSpPr>
        <p:spPr>
          <a:xfrm>
            <a:off x="6263640" y="2990088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0" name="Shape 67"/>
          <p:cNvSpPr/>
          <p:nvPr/>
        </p:nvSpPr>
        <p:spPr>
          <a:xfrm>
            <a:off x="4709160" y="3300984"/>
            <a:ext cx="292608" cy="29260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1" name="Shape 68"/>
          <p:cNvSpPr/>
          <p:nvPr/>
        </p:nvSpPr>
        <p:spPr>
          <a:xfrm>
            <a:off x="5020056" y="3300984"/>
            <a:ext cx="292608" cy="292608"/>
          </a:xfrm>
          <a:prstGeom prst="rect">
            <a:avLst/>
          </a:prstGeom>
          <a:solidFill>
            <a:srgbClr val="AFAFAF"/>
          </a:solidFill>
          <a:ln/>
        </p:spPr>
      </p:sp>
      <p:sp>
        <p:nvSpPr>
          <p:cNvPr id="72" name="Shape 69"/>
          <p:cNvSpPr/>
          <p:nvPr/>
        </p:nvSpPr>
        <p:spPr>
          <a:xfrm>
            <a:off x="5330952" y="3300984"/>
            <a:ext cx="292608" cy="292608"/>
          </a:xfrm>
          <a:prstGeom prst="rect">
            <a:avLst/>
          </a:prstGeom>
          <a:solidFill>
            <a:srgbClr val="5B5B5B"/>
          </a:solidFill>
          <a:ln/>
        </p:spPr>
      </p:sp>
      <p:sp>
        <p:nvSpPr>
          <p:cNvPr id="73" name="Shape 70"/>
          <p:cNvSpPr/>
          <p:nvPr/>
        </p:nvSpPr>
        <p:spPr>
          <a:xfrm>
            <a:off x="5641848" y="3300984"/>
            <a:ext cx="292608" cy="292608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74" name="Shape 71"/>
          <p:cNvSpPr/>
          <p:nvPr/>
        </p:nvSpPr>
        <p:spPr>
          <a:xfrm>
            <a:off x="5952744" y="3300984"/>
            <a:ext cx="292608" cy="29260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75" name="Shape 72"/>
          <p:cNvSpPr/>
          <p:nvPr/>
        </p:nvSpPr>
        <p:spPr>
          <a:xfrm>
            <a:off x="6263640" y="3300984"/>
            <a:ext cx="292608" cy="29260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76" name="Shape 73"/>
          <p:cNvSpPr/>
          <p:nvPr/>
        </p:nvSpPr>
        <p:spPr>
          <a:xfrm>
            <a:off x="4709160" y="3611880"/>
            <a:ext cx="292608" cy="292608"/>
          </a:xfrm>
          <a:prstGeom prst="rect">
            <a:avLst/>
          </a:prstGeom>
          <a:solidFill>
            <a:srgbClr val="C6C6C6"/>
          </a:solidFill>
          <a:ln/>
        </p:spPr>
      </p:sp>
      <p:sp>
        <p:nvSpPr>
          <p:cNvPr id="77" name="Shape 74"/>
          <p:cNvSpPr/>
          <p:nvPr/>
        </p:nvSpPr>
        <p:spPr>
          <a:xfrm>
            <a:off x="5020056" y="3611880"/>
            <a:ext cx="292608" cy="292608"/>
          </a:xfrm>
          <a:prstGeom prst="rect">
            <a:avLst/>
          </a:prstGeom>
          <a:solidFill>
            <a:srgbClr val="747474"/>
          </a:solidFill>
          <a:ln/>
        </p:spPr>
      </p:sp>
      <p:sp>
        <p:nvSpPr>
          <p:cNvPr id="78" name="Shape 75"/>
          <p:cNvSpPr/>
          <p:nvPr/>
        </p:nvSpPr>
        <p:spPr>
          <a:xfrm>
            <a:off x="5330952" y="3611880"/>
            <a:ext cx="292608" cy="292608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79" name="Shape 76"/>
          <p:cNvSpPr/>
          <p:nvPr/>
        </p:nvSpPr>
        <p:spPr>
          <a:xfrm>
            <a:off x="5641848" y="3611880"/>
            <a:ext cx="292608" cy="29260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80" name="Shape 77"/>
          <p:cNvSpPr/>
          <p:nvPr/>
        </p:nvSpPr>
        <p:spPr>
          <a:xfrm>
            <a:off x="5952744" y="3611880"/>
            <a:ext cx="292608" cy="292608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81" name="Shape 78"/>
          <p:cNvSpPr/>
          <p:nvPr/>
        </p:nvSpPr>
        <p:spPr>
          <a:xfrm>
            <a:off x="6263640" y="3611880"/>
            <a:ext cx="292608" cy="292608"/>
          </a:xfrm>
          <a:prstGeom prst="rect">
            <a:avLst/>
          </a:prstGeom>
          <a:solidFill>
            <a:srgbClr val="6D6D6D"/>
          </a:solidFill>
          <a:ln/>
        </p:spPr>
      </p:sp>
      <p:sp>
        <p:nvSpPr>
          <p:cNvPr id="82" name="Text 79"/>
          <p:cNvSpPr/>
          <p:nvPr/>
        </p:nvSpPr>
        <p:spPr>
          <a:xfrm>
            <a:off x="4617720" y="4069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QUEDA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(¡una huella!)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7178040" y="1783080"/>
            <a:ext cx="4480560" cy="3977640"/>
          </a:xfrm>
          <a:prstGeom prst="roundRect">
            <a:avLst>
              <a:gd name="adj" fmla="val 2069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45236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qué?</a:t>
            </a:r>
            <a:endParaRPr lang="en-US" sz="1600" dirty="0"/>
          </a:p>
        </p:txBody>
      </p:sp>
      <p:sp>
        <p:nvSpPr>
          <p:cNvPr id="85" name="Text 82"/>
          <p:cNvSpPr/>
          <p:nvPr/>
        </p:nvSpPr>
        <p:spPr>
          <a:xfrm>
            <a:off x="7452360" y="23317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nadie que 'pinche' el cable USB pueda robar huellas.</a:t>
            </a:r>
            <a:endParaRPr lang="en-US" sz="1350" dirty="0"/>
          </a:p>
        </p:txBody>
      </p:sp>
      <p:sp>
        <p:nvSpPr>
          <p:cNvPr id="86" name="Text 83"/>
          <p:cNvSpPr/>
          <p:nvPr/>
        </p:nvSpPr>
        <p:spPr>
          <a:xfrm>
            <a:off x="745236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 el XOR?</a:t>
            </a:r>
            <a:endParaRPr lang="en-US" sz="1600" dirty="0"/>
          </a:p>
        </p:txBody>
      </p:sp>
      <p:sp>
        <p:nvSpPr>
          <p:cNvPr id="87" name="Text 84"/>
          <p:cNvSpPr/>
          <p:nvPr/>
        </p:nvSpPr>
        <p:spPr>
          <a:xfrm>
            <a:off x="7452360" y="342900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como sumarle a cada píxel un número secreto que solo tú sabes restar. </a:t>
            </a:r>
            <a:pPr indent="0" marL="0">
              <a:buNone/>
            </a:pPr>
            <a:r>
              <a:rPr lang="en-US" sz="135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truco dos veces te devuelve el original:
</a:t>
            </a:r>
            <a:pPr indent="0" marL="0">
              <a:buNone/>
            </a:pPr>
            <a:r>
              <a:rPr lang="en-US" sz="1350" b="1" dirty="0">
                <a:solidFill>
                  <a:srgbClr val="20C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 ⊕ llave ⊕ llave = dato</a:t>
            </a:r>
            <a:endParaRPr lang="en-US" sz="1350" dirty="0"/>
          </a:p>
        </p:txBody>
      </p:sp>
      <p:sp>
        <p:nvSpPr>
          <p:cNvPr id="88" name="Text 85"/>
          <p:cNvSpPr/>
          <p:nvPr/>
        </p:nvSpPr>
        <p:spPr>
          <a:xfrm>
            <a:off x="7452360" y="4892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llave la genera una fórmula llamada LFSR: produce números que parecen aleatorios pero son repetibles.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PASO 4: LA FIRMA ESCONDIDA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Minucias: los puntos que te hacen único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77240" y="1645920"/>
            <a:ext cx="329184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20240" y="2377440"/>
            <a:ext cx="201168" cy="201168"/>
          </a:xfrm>
          <a:prstGeom prst="ellipse">
            <a:avLst/>
          </a:prstGeom>
          <a:solidFill>
            <a:srgbClr val="20C997"/>
          </a:solidFill>
          <a:ln w="19050">
            <a:solidFill>
              <a:srgbClr val="0F172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0" y="2834640"/>
            <a:ext cx="201168" cy="201168"/>
          </a:xfrm>
          <a:prstGeom prst="ellipse">
            <a:avLst/>
          </a:prstGeom>
          <a:solidFill>
            <a:srgbClr val="20C997"/>
          </a:solidFill>
          <a:ln w="19050">
            <a:solidFill>
              <a:srgbClr val="0F172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54480" y="3840480"/>
            <a:ext cx="201168" cy="201168"/>
          </a:xfrm>
          <a:prstGeom prst="ellipse">
            <a:avLst/>
          </a:prstGeom>
          <a:solidFill>
            <a:srgbClr val="20C997"/>
          </a:solidFill>
          <a:ln w="19050">
            <a:solidFill>
              <a:srgbClr val="0F17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4480560"/>
            <a:ext cx="201168" cy="201168"/>
          </a:xfrm>
          <a:prstGeom prst="ellipse">
            <a:avLst/>
          </a:prstGeom>
          <a:solidFill>
            <a:srgbClr val="20C997"/>
          </a:solidFill>
          <a:ln w="1905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6000" y="5212080"/>
            <a:ext cx="201168" cy="201168"/>
          </a:xfrm>
          <a:prstGeom prst="ellipse">
            <a:avLst/>
          </a:prstGeom>
          <a:solidFill>
            <a:srgbClr val="20C997"/>
          </a:solidFill>
          <a:ln w="1905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51760" y="2011680"/>
            <a:ext cx="201168" cy="201168"/>
          </a:xfrm>
          <a:prstGeom prst="ellipse">
            <a:avLst/>
          </a:prstGeom>
          <a:solidFill>
            <a:srgbClr val="F6C453"/>
          </a:solidFill>
          <a:ln w="19050">
            <a:solidFill>
              <a:srgbClr val="0F17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71600" y="3017520"/>
            <a:ext cx="201168" cy="201168"/>
          </a:xfrm>
          <a:prstGeom prst="ellipse">
            <a:avLst/>
          </a:prstGeom>
          <a:solidFill>
            <a:srgbClr val="F6C453"/>
          </a:solidFill>
          <a:ln w="19050">
            <a:solidFill>
              <a:srgbClr val="0F172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17520" y="3749040"/>
            <a:ext cx="201168" cy="201168"/>
          </a:xfrm>
          <a:prstGeom prst="ellipse">
            <a:avLst/>
          </a:prstGeom>
          <a:solidFill>
            <a:srgbClr val="F6C453"/>
          </a:solidFill>
          <a:ln w="19050">
            <a:solidFill>
              <a:srgbClr val="0F17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11680" y="4480560"/>
            <a:ext cx="201168" cy="201168"/>
          </a:xfrm>
          <a:prstGeom prst="ellipse">
            <a:avLst/>
          </a:prstGeom>
          <a:solidFill>
            <a:srgbClr val="F6C453"/>
          </a:solidFill>
          <a:ln w="19050">
            <a:solidFill>
              <a:srgbClr val="0F172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1737360"/>
            <a:ext cx="3108960" cy="1463040"/>
          </a:xfrm>
          <a:prstGeom prst="roundRect">
            <a:avLst>
              <a:gd name="adj" fmla="val 562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1965960"/>
            <a:ext cx="182880" cy="182880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18" name="Text 15"/>
          <p:cNvSpPr/>
          <p:nvPr/>
        </p:nvSpPr>
        <p:spPr>
          <a:xfrm>
            <a:off x="5138928" y="1856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Terminación: una cresta se acaba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46320" y="2514600"/>
            <a:ext cx="182880" cy="182880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20" name="Text 17"/>
          <p:cNvSpPr/>
          <p:nvPr/>
        </p:nvSpPr>
        <p:spPr>
          <a:xfrm>
            <a:off x="5138928" y="2404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Bifurcación: una cresta se parte en dos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0" y="3429000"/>
            <a:ext cx="7086600" cy="2286000"/>
          </a:xfrm>
          <a:prstGeom prst="roundRect">
            <a:avLst>
              <a:gd name="adj" fmla="val 3600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611880"/>
            <a:ext cx="6537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dedo tiene 20 a 50 minucias, y su patrón es único: </a:t>
            </a:r>
            <a:pPr indent="0" marL="0">
              <a:buNone/>
            </a:pPr>
            <a:r>
              <a:rPr lang="en-US" sz="15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los gemelos idénticos lo comparten</a:t>
            </a:r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una guardamos solo 3 datos: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(x, y) y ángulo (θ)</a:t>
            </a:r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cresta en ese punto.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846320" y="507492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Privacidad: la foto de tu huella NO se guarda — solo esta lista de puntos. Con ella no se puede reconstruir tu dedo.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818120" y="1737360"/>
            <a:ext cx="3840480" cy="1463040"/>
          </a:xfrm>
          <a:prstGeom prst="roundRect">
            <a:avLst>
              <a:gd name="adj" fmla="val 5625"/>
            </a:avLst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6720" y="1874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– 54
</a:t>
            </a:r>
            <a:pPr algn="ctr" indent="0" marL="0">
              <a:buNone/>
            </a:pPr>
            <a:r>
              <a:rPr lang="en-US" sz="12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minucias reales medidas en nuestras pruebas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PASO 5: ¿MISMA PERSONA?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huellas = pura geometría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3896" y="2459736"/>
            <a:ext cx="164592" cy="164592"/>
          </a:xfrm>
          <a:prstGeom prst="line">
            <a:avLst/>
          </a:prstGeom>
          <a:noFill/>
          <a:ln w="15875">
            <a:solidFill>
              <a:srgbClr val="20C997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71600" y="2377440"/>
            <a:ext cx="164592" cy="164592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9" name="Shape 7"/>
          <p:cNvSpPr/>
          <p:nvPr/>
        </p:nvSpPr>
        <p:spPr>
          <a:xfrm>
            <a:off x="1536192" y="2542032"/>
            <a:ext cx="164592" cy="164592"/>
          </a:xfrm>
          <a:prstGeom prst="ellipse">
            <a:avLst/>
          </a:prstGeom>
          <a:solidFill>
            <a:srgbClr val="0F1720">
              <a:alpha val="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2185416"/>
            <a:ext cx="164592" cy="164592"/>
          </a:xfrm>
          <a:prstGeom prst="line">
            <a:avLst/>
          </a:prstGeom>
          <a:noFill/>
          <a:ln w="15875">
            <a:solidFill>
              <a:srgbClr val="20C99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194560" y="2103120"/>
            <a:ext cx="164592" cy="164592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12" name="Shape 10"/>
          <p:cNvSpPr/>
          <p:nvPr/>
        </p:nvSpPr>
        <p:spPr>
          <a:xfrm>
            <a:off x="2359152" y="2267712"/>
            <a:ext cx="164592" cy="164592"/>
          </a:xfrm>
          <a:prstGeom prst="ellipse">
            <a:avLst/>
          </a:prstGeom>
          <a:solidFill>
            <a:srgbClr val="0F1720">
              <a:alpha val="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1256" y="2551176"/>
            <a:ext cx="164592" cy="146304"/>
          </a:xfrm>
          <a:prstGeom prst="line">
            <a:avLst/>
          </a:prstGeom>
          <a:noFill/>
          <a:ln w="15875">
            <a:solidFill>
              <a:srgbClr val="20C99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108960" y="2468880"/>
            <a:ext cx="164592" cy="164592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15" name="Shape 13"/>
          <p:cNvSpPr/>
          <p:nvPr/>
        </p:nvSpPr>
        <p:spPr>
          <a:xfrm>
            <a:off x="3273552" y="2615184"/>
            <a:ext cx="164592" cy="164592"/>
          </a:xfrm>
          <a:prstGeom prst="ellipse">
            <a:avLst/>
          </a:prstGeom>
          <a:solidFill>
            <a:srgbClr val="0F1720">
              <a:alpha val="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19656" y="3374136"/>
            <a:ext cx="164592" cy="164592"/>
          </a:xfrm>
          <a:prstGeom prst="line">
            <a:avLst/>
          </a:prstGeom>
          <a:noFill/>
          <a:ln w="15875">
            <a:solidFill>
              <a:srgbClr val="20C99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737360" y="3291840"/>
            <a:ext cx="164592" cy="164592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18" name="Shape 16"/>
          <p:cNvSpPr/>
          <p:nvPr/>
        </p:nvSpPr>
        <p:spPr>
          <a:xfrm>
            <a:off x="1901952" y="3456432"/>
            <a:ext cx="164592" cy="164592"/>
          </a:xfrm>
          <a:prstGeom prst="ellipse">
            <a:avLst/>
          </a:prstGeom>
          <a:solidFill>
            <a:srgbClr val="0F1720">
              <a:alpha val="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25496" y="3648456"/>
            <a:ext cx="164592" cy="146304"/>
          </a:xfrm>
          <a:prstGeom prst="line">
            <a:avLst/>
          </a:prstGeom>
          <a:noFill/>
          <a:ln w="15875">
            <a:solidFill>
              <a:srgbClr val="20C99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743200" y="3566160"/>
            <a:ext cx="164592" cy="164592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21" name="Shape 19"/>
          <p:cNvSpPr/>
          <p:nvPr/>
        </p:nvSpPr>
        <p:spPr>
          <a:xfrm>
            <a:off x="2907792" y="3712464"/>
            <a:ext cx="164592" cy="164592"/>
          </a:xfrm>
          <a:prstGeom prst="ellipse">
            <a:avLst/>
          </a:prstGeom>
          <a:solidFill>
            <a:srgbClr val="0F1720">
              <a:alpha val="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4216" y="3191256"/>
            <a:ext cx="164592" cy="137160"/>
          </a:xfrm>
          <a:prstGeom prst="line">
            <a:avLst/>
          </a:prstGeom>
          <a:noFill/>
          <a:ln w="15875">
            <a:solidFill>
              <a:srgbClr val="20C997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931920" y="3108960"/>
            <a:ext cx="164592" cy="164592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24" name="Shape 22"/>
          <p:cNvSpPr/>
          <p:nvPr/>
        </p:nvSpPr>
        <p:spPr>
          <a:xfrm>
            <a:off x="4096512" y="3246120"/>
            <a:ext cx="164592" cy="164592"/>
          </a:xfrm>
          <a:prstGeom prst="ellipse">
            <a:avLst/>
          </a:prstGeom>
          <a:solidFill>
            <a:srgbClr val="0F1720">
              <a:alpha val="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9736" y="4562856"/>
            <a:ext cx="164592" cy="146304"/>
          </a:xfrm>
          <a:prstGeom prst="line">
            <a:avLst/>
          </a:prstGeom>
          <a:noFill/>
          <a:ln w="15875">
            <a:solidFill>
              <a:srgbClr val="20C99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377440" y="4480560"/>
            <a:ext cx="164592" cy="164592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27" name="Shape 25"/>
          <p:cNvSpPr/>
          <p:nvPr/>
        </p:nvSpPr>
        <p:spPr>
          <a:xfrm>
            <a:off x="2542032" y="4626864"/>
            <a:ext cx="164592" cy="164592"/>
          </a:xfrm>
          <a:prstGeom prst="ellipse">
            <a:avLst/>
          </a:prstGeom>
          <a:solidFill>
            <a:srgbClr val="0F1720">
              <a:alpha val="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39896" y="4745736"/>
            <a:ext cx="164592" cy="128016"/>
          </a:xfrm>
          <a:prstGeom prst="line">
            <a:avLst/>
          </a:prstGeom>
          <a:noFill/>
          <a:ln w="15875">
            <a:solidFill>
              <a:srgbClr val="20C997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57600" y="4663440"/>
            <a:ext cx="164592" cy="164592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30" name="Shape 28"/>
          <p:cNvSpPr/>
          <p:nvPr/>
        </p:nvSpPr>
        <p:spPr>
          <a:xfrm>
            <a:off x="3822192" y="4791456"/>
            <a:ext cx="164592" cy="164592"/>
          </a:xfrm>
          <a:prstGeom prst="ellipse">
            <a:avLst/>
          </a:prstGeom>
          <a:solidFill>
            <a:srgbClr val="0F1720">
              <a:alpha val="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011680"/>
            <a:ext cx="164592" cy="164592"/>
          </a:xfrm>
          <a:prstGeom prst="ellipse">
            <a:avLst/>
          </a:prstGeom>
          <a:solidFill>
            <a:srgbClr val="0F1720">
              <a:alpha val="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4846320"/>
            <a:ext cx="164592" cy="164592"/>
          </a:xfrm>
          <a:prstGeom prst="ellipse">
            <a:avLst/>
          </a:prstGeom>
          <a:solidFill>
            <a:srgbClr val="20C997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257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huella guardada   </a:t>
            </a:r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huella recién leída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1837944"/>
            <a:ext cx="420624" cy="42062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12280" y="1783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un par de puntos como ancla (uno de cada huella)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17920" y="2679192"/>
            <a:ext cx="420624" cy="42062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12280" y="2624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 y mueve TODOS los puntos con seno y coseno (¡trigonometría!)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217920" y="3520440"/>
            <a:ext cx="420624" cy="42062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12280" y="346557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cuántos caen cerca: distancia &lt; 11 px (Pitágoras) y ángulo &lt; 20°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217920" y="4361688"/>
            <a:ext cx="420624" cy="42062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12280" y="430682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Repite con cada ancla posible y quédate con el mejor conteo = SCORE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217920" y="521208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5212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conexiones en el dibujo → score 8.  </a:t>
            </a:r>
            <a:pPr indent="0" marL="0">
              <a:buNone/>
            </a:pPr>
            <a:r>
              <a:rPr lang="en-US" sz="1350" b="1" i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clases de trigonometría SÍ sirven.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¿CUÁNDO DECIMOS QUE SÍ?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umbral mágico: 14 coincidencias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212848"/>
            <a:ext cx="1371600" cy="3182112"/>
          </a:xfrm>
          <a:prstGeom prst="roundRect">
            <a:avLst>
              <a:gd name="adj" fmla="val 3333"/>
            </a:avLst>
          </a:prstGeom>
          <a:solidFill>
            <a:srgbClr val="20C99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01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504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dedo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 muestras)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0360" y="3671316"/>
            <a:ext cx="1371600" cy="1723644"/>
          </a:xfrm>
          <a:prstGeom prst="roundRect">
            <a:avLst>
              <a:gd name="adj" fmla="val 3333"/>
            </a:avLst>
          </a:prstGeom>
          <a:solidFill>
            <a:srgbClr val="F6C453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32598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97480" y="5504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dedo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muestra)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4334256"/>
            <a:ext cx="1371600" cy="1060704"/>
          </a:xfrm>
          <a:prstGeom prst="roundRect">
            <a:avLst>
              <a:gd name="adj" fmla="val 4310"/>
            </a:avLst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922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55046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538728"/>
            <a:ext cx="5806440" cy="0"/>
          </a:xfrm>
          <a:prstGeom prst="line">
            <a:avLst/>
          </a:prstGeom>
          <a:noFill/>
          <a:ln w="25400">
            <a:solidFill>
              <a:srgbClr val="E8EEF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709160" y="3172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= 14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1737360"/>
            <a:ext cx="4709160" cy="1920240"/>
          </a:xfrm>
          <a:prstGeom prst="roundRect">
            <a:avLst>
              <a:gd name="adj" fmla="val 4286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920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≥ 14 → </a:t>
            </a:r>
            <a:pPr indent="0" marL="0">
              <a:buNone/>
            </a:pPr>
            <a:r>
              <a:rPr lang="en-US" sz="17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persona ✓
</a:t>
            </a:r>
            <a:pPr indent="0" marL="0">
              <a:buNone/>
            </a:pPr>
            <a:r>
              <a:rPr lang="en-US" sz="17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&lt; 14 → </a:t>
            </a:r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desconocido ✗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23760" y="2743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una sola muestra quedábamos AL FILO (13-14). La solución: enrolar 3 fotos del mismo dedo y comparar contra las tres.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3886200"/>
            <a:ext cx="4709160" cy="1965960"/>
          </a:xfrm>
          <a:prstGeom prst="roundRect">
            <a:avLst>
              <a:gd name="adj" fmla="val 4186"/>
            </a:avLst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dilema del umbral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4805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bajo → </a:t>
            </a:r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 pasar impostores</a:t>
            </a:r>
            <a:pPr indent="0" marL="0">
              <a:buNone/>
            </a:pPr>
            <a:r>
              <a:rPr lang="en-US" sz="13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(falso positivo)
</a:t>
            </a:r>
            <a:pPr indent="0" marL="0">
              <a:buNone/>
            </a:pPr>
            <a:r>
              <a:rPr lang="en-US" sz="135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alto → </a:t>
            </a:r>
            <a:pPr indent="0" marL="0">
              <a:buNone/>
            </a:pPr>
            <a:r>
              <a:rPr lang="en-US" sz="135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rechaza a TI</a:t>
            </a:r>
            <a:pPr indent="0" marL="0">
              <a:buNone/>
            </a:pPr>
            <a:r>
              <a:rPr lang="en-US" sz="13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(falso negativo)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LA BASE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memoria que sobrevive apagones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06778"/>
            <a:ext cx="358445" cy="358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= el tablero del salón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Rapidísima para trabajar, pero al cortarse la luz se borra TODO.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viven las huellas mientras el sistema compara (32 MB).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1965960"/>
            <a:ext cx="640080" cy="64008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10677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= el cuaderno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83680" y="27432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 veces más lenta para escribir, pero lo escrito QUEDA aunque desconectes la placa un año.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se guardan alumnos, huellas y registros de almuerzo.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498348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3036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0292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loco: </a:t>
            </a:r>
            <a:pPr indent="0" marL="0">
              <a:buNone/>
            </a:pPr>
            <a:r>
              <a:rPr lang="en-US" sz="135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se escribe en la flash, el chip ENTERO se congela un instante (¡ejecuta su código desde esa misma memoria!). Por eso el sistema guarda “por pedacitos”: anexa solo el registro nuevo en vez de reescribir todo.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LA PANTALLA ES TU CELULAR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su propio WiFi (sin internet)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834640" cy="2651760"/>
          </a:xfrm>
          <a:prstGeom prst="roundRect">
            <a:avLst>
              <a:gd name="adj" fmla="val 3103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74320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31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ESP32-P4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la red «ALIMETRIK»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77640" y="3063240"/>
            <a:ext cx="822960" cy="1280160"/>
          </a:xfrm>
          <a:prstGeom prst="arc">
            <a:avLst>
              <a:gd name="adj1" fmla="val 18000000"/>
              <a:gd name="adj2" fmla="val 3600000"/>
            </a:avLst>
          </a:prstGeom>
          <a:solidFill>
            <a:srgbClr val="0F1720">
              <a:alpha val="0"/>
            </a:srgbClr>
          </a:solidFill>
          <a:ln w="31750">
            <a:solidFill>
              <a:srgbClr val="20C99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2807208"/>
            <a:ext cx="1325880" cy="1783080"/>
          </a:xfrm>
          <a:prstGeom prst="arc">
            <a:avLst>
              <a:gd name="adj1" fmla="val 18000000"/>
              <a:gd name="adj2" fmla="val 3600000"/>
            </a:avLst>
          </a:prstGeom>
          <a:solidFill>
            <a:srgbClr val="0F1720">
              <a:alpha val="0"/>
            </a:srgbClr>
          </a:solidFill>
          <a:ln w="31750">
            <a:solidFill>
              <a:srgbClr val="20C99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2551176"/>
            <a:ext cx="1828800" cy="2286000"/>
          </a:xfrm>
          <a:prstGeom prst="arc">
            <a:avLst>
              <a:gd name="adj1" fmla="val 18000000"/>
              <a:gd name="adj2" fmla="val 3600000"/>
            </a:avLst>
          </a:prstGeom>
          <a:solidFill>
            <a:srgbClr val="0F1720">
              <a:alpha val="0"/>
            </a:srgbClr>
          </a:solidFill>
          <a:ln w="31750">
            <a:solidFill>
              <a:srgbClr val="20C99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2377440"/>
            <a:ext cx="2834640" cy="2651760"/>
          </a:xfrm>
          <a:prstGeom prst="roundRect">
            <a:avLst>
              <a:gd name="adj" fmla="val 3103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743200"/>
            <a:ext cx="1051560" cy="10515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72200" y="3931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celular abre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192.168.4.1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189720" y="1783080"/>
            <a:ext cx="2468880" cy="3977640"/>
          </a:xfrm>
          <a:prstGeom prst="roundRect">
            <a:avLst>
              <a:gd name="adj" fmla="val 3333"/>
            </a:avLst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372600" y="2011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web vive DENTRO del chip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37260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la página del kiosco, la lista de alumnos y las métricas en 7 milisegundos.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372600" y="4434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planes de datos, sin nube, sin apps.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página web completa servida desde algo más pequeño que una moneda de $500.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EL KIOSCO EN 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 oro: 1 huella = 1 almuerzo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4206240"/>
          </a:xfrm>
          <a:prstGeom prst="roundRect">
            <a:avLst>
              <a:gd name="adj" fmla="val 1957"/>
            </a:avLst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 · 12:07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286000"/>
            <a:ext cx="4480560" cy="1463040"/>
          </a:xfrm>
          <a:prstGeom prst="roundRect">
            <a:avLst>
              <a:gd name="adj" fmla="val 6250"/>
            </a:avLst>
          </a:prstGeom>
          <a:solidFill>
            <a:srgbClr val="10321F"/>
          </a:solidFill>
          <a:ln w="25400">
            <a:solidFill>
              <a:srgbClr val="20C99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9748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2468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Pérez
</a:t>
            </a:r>
            <a:pPr indent="0" marL="0">
              <a:buNone/>
            </a:pPr>
            <a:r>
              <a:rPr lang="en-US" sz="13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 ENTREGADO ✓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960120" y="3931920"/>
            <a:ext cx="4480560" cy="1463040"/>
          </a:xfrm>
          <a:prstGeom prst="roundRect">
            <a:avLst>
              <a:gd name="adj" fmla="val 6250"/>
            </a:avLst>
          </a:prstGeom>
          <a:solidFill>
            <a:srgbClr val="3A2E10"/>
          </a:solidFill>
          <a:ln w="25400">
            <a:solidFill>
              <a:srgbClr val="F6C45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3434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41148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Pérez
</a:t>
            </a:r>
            <a:pPr indent="0" marL="0">
              <a:buNone/>
            </a:pPr>
            <a:r>
              <a:rPr lang="en-US" sz="13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RECIBIÓ SU ALMUERZO HOY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6172200" y="1828800"/>
            <a:ext cx="548640" cy="54864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901" y="19495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dedo no hay almuerzo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903720" y="21671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registro SOLO nace de una huella leída — no se puede inventar desde un teclado.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72200" y="3200400"/>
            <a:ext cx="548640" cy="54864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901" y="332110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por servicio, por día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903720" y="35387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recuerda quién ya pasó HOY por ESTE servicio. Mañana, contador a cero.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172200" y="4572000"/>
            <a:ext cx="548640" cy="54864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901" y="469270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Sonido para no mirar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903720" y="4910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 agudo = entregado. Doble tono grave = rechazado. La fila no se detiene.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LO QUE NO SALE EN LOS TUTORIALES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Cacería de bugs: historias reales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639312" cy="4069080"/>
          </a:xfrm>
          <a:prstGeom prst="roundRect">
            <a:avLst>
              <a:gd name="adj" fmla="val 2261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874520"/>
            <a:ext cx="548640" cy="54864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952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lector zombi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04672" y="2606040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nadie ponía el dedo en 60 s, un 'timeout' dejaba el USB en un estado fantasma: TODO fallaba... en el mismo milisegundo, para siempre.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" y="434340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pista: dos mensajes del log con timestamp IDÉNTICO. El arreglo: limpiar el canal USB tras cada timeout.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07408" y="1645920"/>
            <a:ext cx="3639312" cy="4069080"/>
          </a:xfrm>
          <a:prstGeom prst="roundRect">
            <a:avLst>
              <a:gd name="adj" fmla="val 2261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874520"/>
            <a:ext cx="548640" cy="54864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19952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0096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peaje fantasma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663440" y="2606040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clic en la página tardaba EXACTAMENTE 250 ms de más. ¿Casualidad? No: dos reglas del protocolo TCP (Nagle + delayed-ACK) se esperaban mutuamente.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63440" y="434340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arreglo: 1 línea de código (TCP_NODELAY). Resultado: 35 veces más rápido.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66176" y="1645920"/>
            <a:ext cx="3639312" cy="4069080"/>
          </a:xfrm>
          <a:prstGeom prst="roundRect">
            <a:avLst>
              <a:gd name="adj" fmla="val 2261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22208" y="1874520"/>
            <a:ext cx="548640" cy="54864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09" y="199522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98864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mensaje invisible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522208" y="2606040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aviso «HUELLA LEÍDA» se mostraba solo 230 ms y otro mensaje lo pisaba. El celular refresca cada segundo: NADIE lo vio jamás.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522208" y="434340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gente creía que el sistema no servía. Era un problema de comunicación, no de función.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Moraleja: el log no miente. Mide primero, adivina nunca.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MEDIDO EN LA VIDA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en números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842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 tu interacción: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dedo, luz, «retira»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842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63440" y="28803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2 huellas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(miles de rotaciones)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17830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9842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111.360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503920" y="28803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píxeles analizados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cada lectura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416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muestras por dedo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enrolarte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38404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0416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ms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663440" y="4937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la página web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chip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38404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0416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503920" y="4937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veces que necesita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o nube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Y TÚ, ¿QUÉ PUEDES HACER?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esto ya lo estás estudiando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cómo funciona por dentro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65960"/>
            <a:ext cx="621792" cy="62179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466" y="2102754"/>
            <a:ext cx="348204" cy="3482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928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00200" y="23134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Trigonometría (rotar puntos), Pitágoras (distancias), XOR (criptografía). No es relleno: es el corazón del sistema.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9672" y="1965960"/>
            <a:ext cx="621792" cy="62179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66" y="2102754"/>
            <a:ext cx="348204" cy="3482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8928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315200" y="23134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C, tareas en paralelo, bases de datos, páginas web. Todo con herramientas 100% gratis.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" y="3931920"/>
            <a:ext cx="621792" cy="62179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66" y="4068714"/>
            <a:ext cx="348204" cy="3482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58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Electrónica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600200" y="427939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USB, WiFi, memorias, sensores. Un chip de $25 hace lo que hace 20 años costaba millones.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63640" y="36576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19672" y="3931920"/>
            <a:ext cx="621792" cy="621792"/>
          </a:xfrm>
          <a:prstGeom prst="ellipse">
            <a:avLst/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466" y="4068714"/>
            <a:ext cx="348204" cy="3482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3858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científico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7315200" y="427939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bug se cazó igual: evidencia → hipótesis → experimento → conclusión. Programar es ser detective.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5577840"/>
            <a:ext cx="11201400" cy="777240"/>
          </a:xfrm>
          <a:prstGeom prst="roundRect">
            <a:avLst>
              <a:gd name="adj" fmla="val 10588"/>
            </a:avLst>
          </a:prstGeom>
          <a:solidFill>
            <a:srgbClr val="1E2B38"/>
          </a:solidFill>
          <a:ln w="12700">
            <a:solidFill>
              <a:srgbClr val="26364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71500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577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Carreras donde harás cosas así: </a:t>
            </a:r>
            <a:pPr indent="0" marL="0">
              <a:buNone/>
            </a:pPr>
            <a:r>
              <a:rPr lang="en-US" sz="14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de Sistemas · Electrónica · Mecatrónica · Ciberseguridad · Ciencia de Datos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097280"/>
            <a:ext cx="3566160" cy="4617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031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31520" y="31089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 el dedo y lo averiguamos.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31520" y="4114800"/>
            <a:ext cx="6675120" cy="1188720"/>
          </a:xfrm>
          <a:prstGeom prst="roundRect">
            <a:avLst>
              <a:gd name="adj" fmla="val 6923"/>
            </a:avLst>
          </a:prstGeom>
          <a:solidFill>
            <a:srgbClr val="17212B"/>
          </a:solidFill>
          <a:ln w="12700">
            <a:solidFill>
              <a:srgbClr val="2636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4224528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resumen en una línea:
</a:t>
            </a:r>
            <a:pPr indent="0" marL="0">
              <a:buNone/>
            </a:pPr>
            <a:r>
              <a:rPr lang="en-US" sz="1900" b="1" dirty="0">
                <a:solidFill>
                  <a:srgbClr val="20C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huella → números → geometría → almuerzo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ALIMETRIK · sistema de comedor escolar con huella · ESP32-P4 + DigitalPersona 4500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2026-07-15T05:34:53Z</dcterms:created>
  <dcterms:modified xsi:type="dcterms:W3CDTF">2026-07-15T05:34:53Z</dcterms:modified>
</cp:coreProperties>
</file>